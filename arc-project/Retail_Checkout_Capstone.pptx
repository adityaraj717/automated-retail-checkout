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SLIDE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00A896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CONTENT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731520"/>
            <a:ext cx="8229600" cy="4572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Retail Checkout System</a:t>
            </a:r>
            <a:endParaRPr lang="en-US" sz="10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_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731520"/>
            <a:ext cx="8229600" cy="4572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Retail Checkout System</a:t>
            </a:r>
            <a:endParaRPr lang="en-US" sz="1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Intelligent Retail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1031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0A89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Checkout System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29260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Powered by Custom Vision AI Architecture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43891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Project Presentation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Problem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840480" cy="32004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2801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Retail Inefficiencies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34747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checkout is slow and prone to human error.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barcoding struggles with small, loose, or unstructured items.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new products requires system-wide updates.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846320" y="1097280"/>
            <a:ext cx="3840480" cy="32004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0" y="12801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Limitations of Base Models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029200" y="1828800"/>
            <a:ext cx="34747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Off-the-shelf single-object segmentation models fail on clustered products.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Aggressive filtering destroys small items (e.g. matchboxes).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distinguish size variants of visually identical packaging.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Our Approach: Custom AI Pipeline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645920"/>
            <a:ext cx="2432304" cy="4572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0"/>
            <a:ext cx="24323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Hybrid Detection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2103120"/>
            <a:ext cx="2432304" cy="1645920"/>
          </a:xfrm>
          <a:prstGeom prst="rect">
            <a:avLst/>
          </a:prstGeom>
          <a:solidFill>
            <a:srgbClr val="11182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194560"/>
            <a:ext cx="2249424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Dichotomous Segmentation + Sliding Window to capture every item.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346704" y="1645920"/>
            <a:ext cx="2432304" cy="45720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8" name="Text 6"/>
          <p:cNvSpPr/>
          <p:nvPr/>
        </p:nvSpPr>
        <p:spPr>
          <a:xfrm>
            <a:off x="3346704" y="1645920"/>
            <a:ext cx="24323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Metric Learning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346704" y="2103120"/>
            <a:ext cx="2432304" cy="1645920"/>
          </a:xfrm>
          <a:prstGeom prst="rect">
            <a:avLst/>
          </a:prstGeom>
          <a:solidFill>
            <a:srgbClr val="11182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38144" y="2194560"/>
            <a:ext cx="2249424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Feature Extractor mapping items to embeddings for kNN hot-reload.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245352" y="1645920"/>
            <a:ext cx="2432304" cy="4572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2" name="Text 10"/>
          <p:cNvSpPr/>
          <p:nvPr/>
        </p:nvSpPr>
        <p:spPr>
          <a:xfrm>
            <a:off x="6245352" y="1645920"/>
            <a:ext cx="24323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Depth Analysis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245352" y="2103120"/>
            <a:ext cx="2432304" cy="1645920"/>
          </a:xfrm>
          <a:prstGeom prst="rect">
            <a:avLst/>
          </a:prstGeom>
          <a:solidFill>
            <a:srgbClr val="11182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36792" y="2194560"/>
            <a:ext cx="2249424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Monocular Depth Estimation to resolve physical size and volume.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2971800" y="1828800"/>
            <a:ext cx="274320" cy="182880"/>
          </a:xfrm>
          <a:prstGeom prst="rightArrow">
            <a:avLst/>
          </a:prstGeom>
          <a:solidFill>
            <a:srgbClr val="CADCFC"/>
          </a:solidFill>
          <a:ln/>
        </p:spPr>
      </p:sp>
      <p:sp>
        <p:nvSpPr>
          <p:cNvPr id="16" name="Shape 14"/>
          <p:cNvSpPr/>
          <p:nvPr/>
        </p:nvSpPr>
        <p:spPr>
          <a:xfrm>
            <a:off x="5870448" y="1828800"/>
            <a:ext cx="274320" cy="182880"/>
          </a:xfrm>
          <a:prstGeom prst="rightArrow">
            <a:avLst/>
          </a:prstGeom>
          <a:solidFill>
            <a:srgbClr val="CADCFC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Stage 1: Hybrid Detection Engine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Problem: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salient object segmentation aggressively erodes small items like tic-tacs.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920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Custom Solution: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Retail Segmenter: Optimized for multiple, tightly clustered products.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Sliding Window Scanner: A sophisticated fallback mechanism that scans the raw frame for unmasked blobs to ensure 100% recall of small items.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3657600"/>
            <a:ext cx="8229600" cy="7315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37490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Academic Foundation / Citation: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402336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Inspired by: Qin, X., et al. (2022). "Highly Accurate Dichotomous Image Segmentation". ECCV.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Stage 2: Deep Metric Learning Classifier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Problem: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Retraining an entire categorization network for every new retail product is unscalable.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920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Custom Solution: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Feature Extractor: Maps visual features into a high-dimensional embedding space.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k-Nearest Neighbors (kNN) Engine: Classifies items by comparing embeddings.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Hot-Reloading: Adding new products only requires saving images to a folder and generating embeddings dynamically—zero model retraining required.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3749040"/>
            <a:ext cx="8229600" cy="7315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384048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Academic Foundation / Citation: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411480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Derived from: Schroff, F., et al. (2015). "FaceNet: A Unified Embedding for Face Recognition and Clustering". CVPR.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Stage 3: Monocular Depth Analysis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Problem: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Visually identical packaging with different sizes (e.g., 10rs vs 30rs packets) are misclassified.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920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Custom Solution: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a Monocular Depth Analyzer to generate real-time relative depth maps.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Calculates metric depth, physical size, and estimated volume per bounding box.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Variant Resolver automatically categorizes the correct product tier based on volume thresholds.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3749040"/>
            <a:ext cx="8229600" cy="7315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384048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Academic Foundation / Citation: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411480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aligned with: Yang, L., et al. (2024). "Depth Anything: Unleashing the Power of Large-Scale Unlabeled Data". CVPR.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Human-in-the-Loop: Ambiguity Resolution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Thresholding: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classifier confidence is marginal (0.45 - 0.70) or the delta between the top 2 candidates is &lt; 0.15, the system flags the detection as ambiguous.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Integration: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Next.js dashboard halts auto-checkout for flagged items, presenting the cashier with the top 3 visually similar candidates with pricing.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Ensures 100% checkout accuracy while maintaining high throughput for clear detections.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Custom Dataset Engineering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1097280"/>
          </a:xfrm>
          <a:prstGeom prst="rect">
            <a:avLst>
              <a:gd name="adj" fmla="val 8333"/>
            </a:avLst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188720"/>
            <a:ext cx="8229600" cy="914400"/>
          </a:xfrm>
          <a:prstGeom prst="rect">
            <a:avLst/>
          </a:prstGeom>
          <a:noFill/>
          <a:ln/>
        </p:spPr>
        <p:txBody>
          <a:bodyPr wrap="square" lIns="2540" tIns="2540" rIns="2540" bIns="254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collected, curated, and annotated a retail dataset completely from scratch.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Varied Lighting: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Captured under extreme shadows, glare, and low-light.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Densities: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Piled, stacked, and touching products.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Occlusions: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Products partially obscuring each other to train the segmentation models robustly.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System Architecture Integration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914400" y="1371600"/>
            <a:ext cx="2103120" cy="1828800"/>
          </a:xfrm>
          <a:prstGeom prst="rect">
            <a:avLst/>
          </a:prstGeom>
          <a:solidFill>
            <a:srgbClr val="1F2937"/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4630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A896"/>
                </a:solidFill>
              </a:rPr>
              <a:t>Hardware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011680"/>
            <a:ext cx="2103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</a:rPr>
              <a:t>DroidCam Video Feed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</a:rPr>
              <a:t>high-res capture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474720" y="1371600"/>
            <a:ext cx="2103120" cy="1828800"/>
          </a:xfrm>
          <a:prstGeom prst="rect">
            <a:avLst/>
          </a:prstGeom>
          <a:solidFill>
            <a:srgbClr val="1F2937"/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0" y="14630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A896"/>
                </a:solidFill>
              </a:rPr>
              <a:t>Backend (FastAPI)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474720" y="2011680"/>
            <a:ext cx="2103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</a:rPr>
              <a:t>Custom CV Pipeline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</a:rPr>
              <a:t>SQLite Database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</a:rPr>
              <a:t>Hot-Reloading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035040" y="1371600"/>
            <a:ext cx="2103120" cy="1828800"/>
          </a:xfrm>
          <a:prstGeom prst="rect">
            <a:avLst/>
          </a:prstGeom>
          <a:solidFill>
            <a:srgbClr val="1F2937"/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035040" y="14630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A896"/>
                </a:solidFill>
              </a:rPr>
              <a:t>Frontend (Next.js)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035040" y="2011680"/>
            <a:ext cx="2103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</a:rPr>
              <a:t>3-column Dashboard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</a:rPr>
              <a:t>Vision Maps (SSAO)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</a:rPr>
              <a:t>Cart &amp; UX Flow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108960" y="2103120"/>
            <a:ext cx="274320" cy="182880"/>
          </a:xfrm>
          <a:prstGeom prst="rightArrow">
            <a:avLst/>
          </a:prstGeom>
          <a:solidFill>
            <a:srgbClr val="CADCFC"/>
          </a:solidFill>
          <a:ln/>
        </p:spPr>
      </p:sp>
      <p:sp>
        <p:nvSpPr>
          <p:cNvPr id="13" name="Shape 11"/>
          <p:cNvSpPr/>
          <p:nvPr/>
        </p:nvSpPr>
        <p:spPr>
          <a:xfrm>
            <a:off x="5669280" y="2103120"/>
            <a:ext cx="274320" cy="182880"/>
          </a:xfrm>
          <a:prstGeom prst="rightArrow">
            <a:avLst/>
          </a:prstGeom>
          <a:solidFill>
            <a:srgbClr val="CADCFC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0A89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Conclusion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2860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scalable, completely custom retail ecosystem.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32004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You.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Intelligent Retail Checkout System</dc:title>
  <dc:subject>PptxGenJS Presentation</dc:subject>
  <dc:creator>Capstone Team</dc:creator>
  <cp:lastModifiedBy>Capstone Team</cp:lastModifiedBy>
  <cp:revision>1</cp:revision>
  <dcterms:created xsi:type="dcterms:W3CDTF">2026-03-06T06:24:20Z</dcterms:created>
  <dcterms:modified xsi:type="dcterms:W3CDTF">2026-03-06T06:24:20Z</dcterms:modified>
</cp:coreProperties>
</file>