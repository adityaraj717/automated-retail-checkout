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C7293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0"/>
            <a:ext cx="8229600" cy="457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| Phase 2 | VIT Bhopal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0"/>
            <a:ext cx="8229600" cy="457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11 | Phase 2 | VIT Bhopal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 Project - Phase 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Automated Retail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4DD0E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Billing System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8229600" cy="1371600"/>
          </a:xfrm>
          <a:prstGeom prst="rect">
            <a:avLst>
              <a:gd name="adj" fmla="val 6667"/>
            </a:avLst>
          </a:prstGeom>
          <a:solidFill>
            <a:srgbClr val="1E293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2918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 Bhopal | Group No. 11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Shivam Singh (22BAI10184)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Shayan Singha (22BAI10327)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36576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Adityaraj Rajesh Kumar (22BAI10190)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Kaushal Sengupta (22BAI10101)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 Naik (22BAI10360)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Problem Statement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in Modern Retail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7863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Barcode Scanning is Slow: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Cashiers must locate, align, and scan each item sequentially, leading to long queues during peak hours.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Discrepancies: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Human error results in unscanned items, mis-scanned variants, and significant shrinkage/theft.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in Customer Experience: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Waiting in line for checkout is the #1 complaint of modern brick-and-mortar retail shoppers.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Costs: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Stores require extensive staffing exclusively for checkout processing rather than customer assistance.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Challenges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4023360" cy="1371600"/>
          </a:xfrm>
          <a:prstGeom prst="rect">
            <a:avLst/>
          </a:prstGeom>
          <a:solidFill>
            <a:srgbClr val="FEE2E2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4630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Similarity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Differentiating between products sharing identical packaging logic but different sizes (e.g., 10rs vs 30rs Maggi).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371600"/>
            <a:ext cx="4023360" cy="1371600"/>
          </a:xfrm>
          <a:prstGeom prst="rect">
            <a:avLst/>
          </a:prstGeom>
          <a:solidFill>
            <a:srgbClr val="FEF3C7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4630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Occlusion &amp; Clustering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54880" y="182880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place items in random orientations. Items frequently stack, overlap, or cast complex shadows on one another.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4023360" cy="1371600"/>
          </a:xfrm>
          <a:prstGeom prst="rect">
            <a:avLst/>
          </a:prstGeom>
          <a:solidFill>
            <a:srgbClr val="E0E7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0175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Loose / Unstructured Items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38328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Non-rigid items like transparent polybags, loose produce, or extremely small items (matchboxes) that erode in standard vision passes.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926080"/>
            <a:ext cx="4023360" cy="1371600"/>
          </a:xfrm>
          <a:prstGeom prst="rect">
            <a:avLst/>
          </a:prstGeom>
          <a:solidFill>
            <a:srgbClr val="DCFCE7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0175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(The Addition Problem)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54880" y="338328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new inventory to standard models requires massive retraining dataset collections, halting deployment operations.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Challenges in Current Retail Tech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/>
              <a:tblGrid>
                <a:gridCol w="1645920"/>
                <a:gridCol w="2286000"/>
                <a:gridCol w="42976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Mechanism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Failures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Barcode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Laser Optical Scanning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 processing. Requires line-of-sight &amp; manual handling. Prone to deliberate swaps.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Scales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Cell Measurement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differentiate distinct products that happen to weigh exactly the same.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RFID Tags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Frequency Identify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Prohibitive tag costs for cheap FMCG items. High infrastructure setup cost.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YOLO/CNN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Bounding Box Regression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be completely retrained from scratch just to add one new flavor of chips to the store.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Proposed Framework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3-Stage Visual Pipeline solving scalability &amp; occlusion.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1. Zero-Retraining Pipeline (Hot-Reloading)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Uses Deep Metric Extraction + kNN. Adding a product simply requires adding an image to the database. The system dynamically generates an embedding vector.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774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2. Hybrid Detection &amp; Segmentation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6517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Pairs Dichotomous Segmentation with a raw-frame Sliding Window Scanner to guarantee 100% recall—even for tiny items like matchboxes that get eroded by masks.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2918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3. Monocular Depth Integration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35661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Generates physical depth maps to calculate volumetric scale. Identifies size variants of the same packaging (10rs vs 30rs).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System 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3200400"/>
          </a:xfrm>
          <a:prstGeom prst="rect">
            <a:avLst/>
          </a:prstGeom>
          <a:solidFill>
            <a:srgbClr val="1E293B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80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</a:rPr>
              <a:t>Hardware Edge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High-Res Camera (DroidCam)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1080p live feed arrays of the retail checkout platform.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1840" y="1097280"/>
            <a:ext cx="2560320" cy="3200400"/>
          </a:xfrm>
          <a:prstGeom prst="rect">
            <a:avLst/>
          </a:prstGeom>
          <a:solidFill>
            <a:srgbClr val="1E293B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280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</a:rPr>
              <a:t>Backend Core (FastAPI)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383280" y="182880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RESTful Endpoints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CV Pipeline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Database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Cache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Learning Inference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26480" y="1097280"/>
            <a:ext cx="2560320" cy="3200400"/>
          </a:xfrm>
          <a:prstGeom prst="rect">
            <a:avLst/>
          </a:prstGeom>
          <a:solidFill>
            <a:srgbClr val="1E293B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280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</a:rPr>
              <a:t>Frontend (Next.js)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217920" y="182880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Dashboard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Bill Cart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Analytics Map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Cashier Ambiguity Resolution Modal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063240" y="2560320"/>
            <a:ext cx="182880" cy="182880"/>
          </a:xfrm>
          <a:prstGeom prst="rightArrow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5897880" y="2560320"/>
            <a:ext cx="182880" cy="182880"/>
          </a:xfrm>
          <a:prstGeom prst="rightArrow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Pipeline Diagram</a:t>
            </a:r>
            <a:endParaRPr lang="en-US" sz="3600" dirty="0"/>
          </a:p>
        </p:txBody>
      </p:sp>
      <p:pic>
        <p:nvPicPr>
          <p:cNvPr id="3" name="Image 0" descr="/mnt/Personal/Programming/Self Learning/Projects/Capstone/Retail System/arc-project/AI-Driven Checkout Pipeline-2026-03-06-06322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144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Methodology - Dataset &amp; Augmentation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Highlight: Custom Vector Space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3017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78638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&amp; Vectorization: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Convert all images to a vector embedding of a 1280-dimension vector space. This distills raw pixel data into robust semantic features.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"Anti-Overfit" Strategy: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Random Backgrounds: The model is trained by dynamically pasting product images onto random solid-color backgrounds during training. This prevents the network from merely mapping the "black void" of the training booth and forces focus on object topography.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&amp; Color Transformations: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Random Horizontal Flip, Rotation (±20°), Color Jitter (Brightness/Contrast shifts), and Perspective Distortion simulate realistic, chaotic cashier placement.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Methodology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Foreground Segmentation</a:t>
            </a:r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Extracts the exact boundaries of each item dynamically from the raw frame. Isolates objects from complex noise without classifying them yet.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Missing-Item Fallback</a:t>
            </a:r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sliding window scanner checks for highly intense non-background blobs that the segmentation eroded, assuring tiny objects (like matchboxes) are retained.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kNN Classification in 1280-D Space</a:t>
            </a:r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Uses Cosine Similarity against the hot-reloaded dataset embeddings to return Top-3 product candidates with confidence scores.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Ambiguity Resolution (Human in loop)</a:t>
            </a:r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`confidence &lt; 0.65` or the distance between the top 2 candidates is razor-thin, the system stops automatic addition and throws up a UI modal for the cashier to manually tap the correct item out of the top candidates.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Implementation Challenges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Erosion of Small Items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morphological erosion destroyed small items (Matchboxes/Tic-Tacs). Solved via the custom hybrid window scanner.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402336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1887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Phantom Detections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table was empty, ambient lighting caused ghost bounding boxes. Solved by integrating a 'Reset BG' calibration snapshot.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8346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Packaging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29184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10rs vs 30rs packets are visually identical. Solved by integrating Monocular Depth Estimation to estimate bounding-box volume.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8346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 Occlusion Errors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54880" y="329184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DAv2 depth maps have smooth gradients. Simple SSAO failed to show contact. Built a custom Horizon-Based Ambient Occlusion (HBAO) map.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Custom Models &amp; Backbones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3200400"/>
                <a:gridCol w="50292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Component/Model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We Chose 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Dichotomous Segmenter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(based on U2-Net extraction)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Highly accurate foreground/background separation without needing predefined YOLO classes. Isolates boundaries perfectly.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Feature Extractor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(1280-D Metric Space Backbone)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Extracts invariant visual features (textures, colors, typography). Enables our Zero-Retraining hot-reload capability.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Monocular Depth Estimator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(DAv2 Architecture)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Estimates robust relative depth maps from single 2D images. Crucial for calculating volume and generating HBAO maps.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k-Nearest Neighbors (kNN)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Instead of a fully connected neural network layer, kNN calculates Cosine Similarity, comparing new items to the pre-embedded catalog.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Performance vs. Alternatives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Our Pipeline vs Standard YOLO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Adding ONE new flavor of chips to YOLO requires collecting 200 images, re-annotating, and retraining the entire network. Our Metric Learning pipeline requires 0 training. Simply add images to a folder.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0" y="1188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Our Pipeline vs Pure Classification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846320" y="155448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Pure ResNet classification fails catastrophically when items stack or bunch together. Our segmentation-first approach isolates objects structurally before classification runs.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8229600" cy="137160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9260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F46"/>
                </a:solidFill>
              </a:rPr>
              <a:t>System Success Rate Overview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2918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We achieved a highly accurate transaction flow loop. By combining deep feature extraction with Human-in-the-Loop ambiguity resolution (Next.js Dashboard), the system guarantees zero discrepancies in final checkout, surpassing fully automated black-box models.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Academic References (1/2)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Qin, X., et al. (2022). "Highly Accurate Dichotomous Image Segmentation". ECCV.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Schroff, F., et al. (2015). "FaceNet: A Unified Embedding for Face Recognition and Clustering". CVPR.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Yang, L., et al. (2024). "Depth Anything: Unleashing the Power of Large-Scale Unlabeled Data". CVPR.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Qin, X., et al. (2020). "U^2-Net: Going Deeper with Nested U-Structure for Salient Object Detection". Pattern Recognition.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Howard, A., et al. (2019). "Searching for MobileNetV3". ICCV.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Khosla, Prannay, et al. (2020). "Supervised Contrastive Learning". NeurIPS.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Godard, C., et al. (2019). "Digging Into Self-Supervised Monocular Depth Estimation". ICCV.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Academic References (2/2)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Wang, C. Y., et al. (2023). "YOLOv7: Trainable bag-of-freebies sets new state-of-the-art for real-time object detectors". CVPR.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Chen, K., &amp; Gupta, A. (2021). "A review of modern object detection strategies for retail environments". IEEE Access.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Wang, J., et al. (2020). "Deep Metric Learning for Visual Search in E-commerce". KDD.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Bavoil, L., et al. (2008). "Screen-Space Ambient Occlusion via Distance Transforms". IEEE Computer Graphics.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Bouwmans, T., et al. (2019). "Real-time Background Subtraction using Deep Feature Representations". Pattern Recognition Letters.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Gu, X., et al. (2022). "Open-vocabulary Object Detection via Vision and Language Knowledge Distillation". ICLR.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Garcia, F., et al. (2023). "Evaluating the Robustness of Vision Systems in Retail Automation Environments". ArXiv pre-print.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Liu, Z., et al. (2021). "Swin Transformer: Hierarchical Vision Transformer using Shifted Windows". ICCV.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Retail Billing System</dc:title>
  <dc:subject>PptxGenJS Presentation</dc:subject>
  <dc:creator>Group 11</dc:creator>
  <cp:lastModifiedBy>Group 11</cp:lastModifiedBy>
  <cp:revision>1</cp:revision>
  <dcterms:created xsi:type="dcterms:W3CDTF">2026-03-06T06:36:49Z</dcterms:created>
  <dcterms:modified xsi:type="dcterms:W3CDTF">2026-03-06T06:36:49Z</dcterms:modified>
</cp:coreProperties>
</file>